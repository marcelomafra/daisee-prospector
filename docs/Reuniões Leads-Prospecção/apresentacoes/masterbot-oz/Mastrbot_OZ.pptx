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citando a conversa de 19/08. O número 240 é deles, não nosso — usar como âncora.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Só devolver o que eles disseram. Não vender nada aqui. O 0 de indicadores é o gancho do resto do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desarme. Dizer explicitamente: ninguém vai falar com o parceiro no lugar do time da OZ.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Ler a coluna da esquerda primeiro. É a objeção deles antes de virar objeção.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Três blocos, três frases. Sempre fechar com a linha 'Na OZ' — é o que conecta o produto à operação deles.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Aqui entra a credibilidade técnica: WABA, Baileys, WebJs, API, webhooks. E deixar claro que IA fica desligada.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Tela real. Apontar a fila à esquerda, o dono do atendimento e o tempo em aberto. Nomes de agências são fictícios.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Falar direto com a supervisão. O chat interno é o recurso que mais fecha essa conversa.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TMA e TME são os dois números que hoje não existem na OZ. Parar neles.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amplitude, não de detalhe. Insistir: começa desligado, liga quando eles quiserem.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Deixar claríssimo: a assistente não fala com o parceiro. Ela avisa a coordenação. Pode ficar desligada.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Vender o piloto, não o contrato. A palavra-chave é 'começando pequeno'.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Fechar pedindo a Etapa 1: 30 minutos com a supervisão comercial. Data na agenda antes de sair da sala.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FFFF">
                  <a:alpha val="4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1846183"/>
            <a:ext cx="1087171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A8BF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PREPARADO PARA OZ CÂMBIO · AGO/2026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" y="2531983"/>
            <a:ext cx="10179879" cy="2521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076"/>
              </a:lnSpc>
              <a:buNone/>
            </a:pPr>
            <a:r>
              <a:rPr lang="en-US" sz="6150" b="1" spc="-184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240 grupos. 10 pessoas. Nenhum parceiro sem resposta.</a:t>
            </a:r>
            <a:endParaRPr lang="en-US" sz="6150" dirty="0"/>
          </a:p>
        </p:txBody>
      </p:sp>
      <p:sp>
        <p:nvSpPr>
          <p:cNvPr id="5" name="Text 3"/>
          <p:cNvSpPr/>
          <p:nvPr/>
        </p:nvSpPr>
        <p:spPr>
          <a:xfrm>
            <a:off x="952500" y="5396508"/>
            <a:ext cx="10006965" cy="1363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889"/>
              </a:lnSpc>
              <a:buNone/>
            </a:pPr>
            <a:r>
              <a:rPr lang="en-US" sz="2400" dirty="0">
                <a:solidFill>
                  <a:srgbClr val="C8D8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camada de gestão sobre o WhatsApp que vocês já usam — para enxergar, medir e sustentar o atendimento aos parceiros conforme a carteira cresce.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52500" y="7103388"/>
            <a:ext cx="9883378" cy="9525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952500" y="7358658"/>
            <a:ext cx="1087171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Marcelo Mafra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52500" y="7739658"/>
            <a:ext cx="10871716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A8B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MasterVendas · mafra@mastervendas.com.br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952500" y="8135898"/>
            <a:ext cx="1087171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E7A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partir da conversa de 19/08/2026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1521678" y="1846183"/>
            <a:ext cx="9525" cy="6594515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91299" y="3743206"/>
            <a:ext cx="990600" cy="9906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3510499" y="3823216"/>
            <a:ext cx="3696462" cy="525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spc="-66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Masterbot</a:t>
            </a:r>
            <a:endParaRPr lang="en-US" sz="3300" dirty="0"/>
          </a:p>
        </p:txBody>
      </p:sp>
      <p:sp>
        <p:nvSpPr>
          <p:cNvPr id="13" name="Text 10"/>
          <p:cNvSpPr/>
          <p:nvPr/>
        </p:nvSpPr>
        <p:spPr>
          <a:xfrm>
            <a:off x="13510499" y="4348996"/>
            <a:ext cx="369646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8EAC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CONEXÕES ESTRATÉGICAS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2291299" y="5057656"/>
            <a:ext cx="5195528" cy="152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757"/>
              </a:lnSpc>
              <a:buNone/>
            </a:pPr>
            <a:r>
              <a:rPr lang="en-US" sz="1950" dirty="0">
                <a:solidFill>
                  <a:srgbClr val="9BA5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Plataforma de gestão de atendimento por WhatsApp: tickets, filas, carteiras, histórico e indicadores — sobre os canais que a empresa já opera.</a:t>
            </a:r>
            <a:endParaRPr lang="en-US" sz="1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76300"/>
            <a:ext cx="316341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5C7D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RETRATO DE HOJE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151305" y="876300"/>
            <a:ext cx="126039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9BA5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13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952500" y="1390650"/>
            <a:ext cx="16383000" cy="9525"/>
          </a:xfrm>
          <a:prstGeom prst="rect">
            <a:avLst/>
          </a:prstGeom>
          <a:solidFill>
            <a:srgbClr val="C8D8D2"/>
          </a:solidFill>
          <a:ln/>
        </p:spPr>
      </p:sp>
      <p:sp>
        <p:nvSpPr>
          <p:cNvPr id="5" name="Text 3"/>
          <p:cNvSpPr/>
          <p:nvPr/>
        </p:nvSpPr>
        <p:spPr>
          <a:xfrm>
            <a:off x="952500" y="1762125"/>
            <a:ext cx="18021300" cy="675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045"/>
              </a:lnSpc>
              <a:buNone/>
            </a:pPr>
            <a:r>
              <a:rPr lang="en-US" sz="4650" b="1" spc="-116" kern="0" dirty="0">
                <a:solidFill>
                  <a:srgbClr val="171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ouvimos de vocês</a:t>
            </a:r>
            <a:endParaRPr lang="en-US" sz="4650" dirty="0"/>
          </a:p>
        </p:txBody>
      </p:sp>
      <p:sp>
        <p:nvSpPr>
          <p:cNvPr id="6" name="Shape 4"/>
          <p:cNvSpPr/>
          <p:nvPr/>
        </p:nvSpPr>
        <p:spPr>
          <a:xfrm>
            <a:off x="952500" y="2761774"/>
            <a:ext cx="9525" cy="1779270"/>
          </a:xfrm>
          <a:prstGeom prst="rect">
            <a:avLst/>
          </a:prstGeom>
          <a:solidFill>
            <a:srgbClr val="C8D8D2"/>
          </a:solidFill>
          <a:ln/>
        </p:spPr>
      </p:sp>
      <p:sp>
        <p:nvSpPr>
          <p:cNvPr id="7" name="Text 5"/>
          <p:cNvSpPr/>
          <p:nvPr/>
        </p:nvSpPr>
        <p:spPr>
          <a:xfrm>
            <a:off x="1245870" y="2761774"/>
            <a:ext cx="3836861" cy="998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7778"/>
              </a:lnSpc>
              <a:buNone/>
            </a:pPr>
            <a:r>
              <a:rPr lang="en-US" sz="8400" b="1" spc="-336" kern="0" dirty="0">
                <a:solidFill>
                  <a:srgbClr val="4B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240</a:t>
            </a:r>
            <a:endParaRPr lang="en-US" sz="8400" dirty="0"/>
          </a:p>
        </p:txBody>
      </p:sp>
      <p:sp>
        <p:nvSpPr>
          <p:cNvPr id="8" name="Text 6"/>
          <p:cNvSpPr/>
          <p:nvPr/>
        </p:nvSpPr>
        <p:spPr>
          <a:xfrm>
            <a:off x="1245870" y="3874294"/>
            <a:ext cx="3592697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528"/>
              </a:lnSpc>
              <a:buNone/>
            </a:pPr>
            <a:r>
              <a:rPr lang="en-US" sz="1875" dirty="0">
                <a:solidFill>
                  <a:srgbClr val="515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grupos ativos — um por agência parceira</a:t>
            </a:r>
            <a:endParaRPr lang="en-US" sz="1875" dirty="0"/>
          </a:p>
        </p:txBody>
      </p:sp>
      <p:sp>
        <p:nvSpPr>
          <p:cNvPr id="9" name="Shape 7"/>
          <p:cNvSpPr/>
          <p:nvPr/>
        </p:nvSpPr>
        <p:spPr>
          <a:xfrm>
            <a:off x="5153025" y="2761774"/>
            <a:ext cx="9525" cy="1779270"/>
          </a:xfrm>
          <a:prstGeom prst="rect">
            <a:avLst/>
          </a:prstGeom>
          <a:solidFill>
            <a:srgbClr val="C8D8D2"/>
          </a:solidFill>
          <a:ln/>
        </p:spPr>
      </p:sp>
      <p:sp>
        <p:nvSpPr>
          <p:cNvPr id="10" name="Text 8"/>
          <p:cNvSpPr/>
          <p:nvPr/>
        </p:nvSpPr>
        <p:spPr>
          <a:xfrm>
            <a:off x="5446395" y="2761774"/>
            <a:ext cx="3836861" cy="998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7778"/>
              </a:lnSpc>
              <a:buNone/>
            </a:pPr>
            <a:r>
              <a:rPr lang="en-US" sz="8400" b="1" spc="-336" kern="0" dirty="0">
                <a:solidFill>
                  <a:srgbClr val="4B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400" dirty="0"/>
          </a:p>
        </p:txBody>
      </p:sp>
      <p:sp>
        <p:nvSpPr>
          <p:cNvPr id="11" name="Text 9"/>
          <p:cNvSpPr/>
          <p:nvPr/>
        </p:nvSpPr>
        <p:spPr>
          <a:xfrm>
            <a:off x="5446395" y="3874294"/>
            <a:ext cx="3592697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528"/>
              </a:lnSpc>
              <a:buNone/>
            </a:pPr>
            <a:r>
              <a:rPr lang="en-US" sz="1875" dirty="0">
                <a:solidFill>
                  <a:srgbClr val="515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pessoas cobrindo todos os grupos, por especialidade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9353550" y="2761774"/>
            <a:ext cx="9525" cy="1779270"/>
          </a:xfrm>
          <a:prstGeom prst="rect">
            <a:avLst/>
          </a:prstGeom>
          <a:solidFill>
            <a:srgbClr val="C8D8D2"/>
          </a:solidFill>
          <a:ln/>
        </p:spPr>
      </p:sp>
      <p:sp>
        <p:nvSpPr>
          <p:cNvPr id="13" name="Text 11"/>
          <p:cNvSpPr/>
          <p:nvPr/>
        </p:nvSpPr>
        <p:spPr>
          <a:xfrm>
            <a:off x="9646920" y="2761774"/>
            <a:ext cx="3836861" cy="998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7778"/>
              </a:lnSpc>
              <a:buNone/>
            </a:pPr>
            <a:r>
              <a:rPr lang="en-US" sz="8400" b="1" spc="-336" kern="0" dirty="0">
                <a:solidFill>
                  <a:srgbClr val="4B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400" dirty="0"/>
          </a:p>
        </p:txBody>
      </p:sp>
      <p:sp>
        <p:nvSpPr>
          <p:cNvPr id="14" name="Text 12"/>
          <p:cNvSpPr/>
          <p:nvPr/>
        </p:nvSpPr>
        <p:spPr>
          <a:xfrm>
            <a:off x="9646920" y="3874294"/>
            <a:ext cx="3592697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528"/>
              </a:lnSpc>
              <a:buNone/>
            </a:pPr>
            <a:r>
              <a:rPr lang="en-US" sz="1875" dirty="0">
                <a:solidFill>
                  <a:srgbClr val="515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canal: WhatsApp Business, sem camada de gestão</a:t>
            </a:r>
            <a:endParaRPr lang="en-US" sz="1875" dirty="0"/>
          </a:p>
        </p:txBody>
      </p:sp>
      <p:sp>
        <p:nvSpPr>
          <p:cNvPr id="15" name="Shape 13"/>
          <p:cNvSpPr/>
          <p:nvPr/>
        </p:nvSpPr>
        <p:spPr>
          <a:xfrm>
            <a:off x="13554075" y="2761774"/>
            <a:ext cx="9525" cy="1779270"/>
          </a:xfrm>
          <a:prstGeom prst="rect">
            <a:avLst/>
          </a:prstGeom>
          <a:solidFill>
            <a:srgbClr val="C8D8D2"/>
          </a:solidFill>
          <a:ln/>
        </p:spPr>
      </p:sp>
      <p:sp>
        <p:nvSpPr>
          <p:cNvPr id="16" name="Text 14"/>
          <p:cNvSpPr/>
          <p:nvPr/>
        </p:nvSpPr>
        <p:spPr>
          <a:xfrm>
            <a:off x="13847445" y="2761774"/>
            <a:ext cx="3836861" cy="998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7778"/>
              </a:lnSpc>
              <a:buNone/>
            </a:pPr>
            <a:r>
              <a:rPr lang="en-US" sz="8400" b="1" spc="-336" kern="0" dirty="0">
                <a:solidFill>
                  <a:srgbClr val="6E94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8400" dirty="0"/>
          </a:p>
        </p:txBody>
      </p:sp>
      <p:sp>
        <p:nvSpPr>
          <p:cNvPr id="17" name="Text 15"/>
          <p:cNvSpPr/>
          <p:nvPr/>
        </p:nvSpPr>
        <p:spPr>
          <a:xfrm>
            <a:off x="13847445" y="3874294"/>
            <a:ext cx="3592697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528"/>
              </a:lnSpc>
              <a:buNone/>
            </a:pPr>
            <a:r>
              <a:rPr lang="en-US" sz="1875" dirty="0">
                <a:solidFill>
                  <a:srgbClr val="515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indicadores consolidados sobre o próprio atendimento</a:t>
            </a:r>
            <a:endParaRPr lang="en-US" sz="1875" dirty="0"/>
          </a:p>
        </p:txBody>
      </p:sp>
      <p:sp>
        <p:nvSpPr>
          <p:cNvPr id="18" name="Shape 16"/>
          <p:cNvSpPr/>
          <p:nvPr/>
        </p:nvSpPr>
        <p:spPr>
          <a:xfrm>
            <a:off x="952500" y="4979194"/>
            <a:ext cx="16383000" cy="9525"/>
          </a:xfrm>
          <a:prstGeom prst="rect">
            <a:avLst/>
          </a:prstGeom>
          <a:solidFill>
            <a:srgbClr val="C8D8D2"/>
          </a:solidFill>
          <a:ln/>
        </p:spPr>
      </p:sp>
      <p:sp>
        <p:nvSpPr>
          <p:cNvPr id="19" name="Text 17"/>
          <p:cNvSpPr/>
          <p:nvPr/>
        </p:nvSpPr>
        <p:spPr>
          <a:xfrm>
            <a:off x="952500" y="5310664"/>
            <a:ext cx="15893415" cy="9844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423"/>
              </a:lnSpc>
              <a:buNone/>
            </a:pPr>
            <a:r>
              <a:rPr lang="en-US" sz="2700" dirty="0">
                <a:solidFill>
                  <a:srgbClr val="171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“Seria a questão da leitura de todas as mensagens ao mesmo tempo… para não deixar nenhum parceiro sem resposta no fechamento das operações.”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952500" y="6428423"/>
            <a:ext cx="180213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6E7A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Levantado na conversa de 19/08/2026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52500" y="7095173"/>
            <a:ext cx="14716125" cy="8115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210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modelo funciona hoje. A pergunta é o que acontece com ele quando a carteira dobrar — e como provar, com dados, que ele continua funcionando.</a:t>
            </a:r>
            <a:endParaRPr lang="en-US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71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FFFF">
                  <a:alpha val="4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876300"/>
            <a:ext cx="186080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A8BF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PREMISSA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151305" y="876300"/>
            <a:ext cx="126039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6E7A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13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52500" y="1390650"/>
            <a:ext cx="16383000" cy="9525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952500" y="1743075"/>
            <a:ext cx="15716250" cy="675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045"/>
              </a:lnSpc>
              <a:buNone/>
            </a:pPr>
            <a:r>
              <a:rPr lang="en-US" sz="4650" b="1" spc="-116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a plataforma faz, e o que ela não faz</a:t>
            </a:r>
            <a:endParaRPr lang="en-US" sz="4650" dirty="0"/>
          </a:p>
        </p:txBody>
      </p:sp>
      <p:sp>
        <p:nvSpPr>
          <p:cNvPr id="7" name="Text 5"/>
          <p:cNvSpPr/>
          <p:nvPr/>
        </p:nvSpPr>
        <p:spPr>
          <a:xfrm>
            <a:off x="952500" y="4593193"/>
            <a:ext cx="7965103" cy="3138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102"/>
              </a:lnSpc>
              <a:buNone/>
            </a:pPr>
            <a:r>
              <a:rPr lang="en-US" sz="2325" dirty="0">
                <a:solidFill>
                  <a:srgbClr val="C8D8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Vocês nos disseram que o diferencial da OZ é ter uma pessoa resolvendo o problema do parceiro. Concordamos — e é também o que a Masterbot defende: </a:t>
            </a:r>
            <a:pPr algn="l" indent="0" marL="0">
              <a:lnSpc>
                <a:spcPct val="132102"/>
              </a:lnSpc>
              <a:buNone/>
            </a:pPr>
            <a:r>
              <a:rPr lang="en-US" sz="23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tecnologia que fortalece o relacionamento humano, não que o substitui </a:t>
            </a:r>
            <a:pPr algn="l" indent="0" marL="0">
              <a:lnSpc>
                <a:spcPct val="132102"/>
              </a:lnSpc>
              <a:buNone/>
            </a:pPr>
            <a:r>
              <a:rPr lang="en-US" sz="2325" dirty="0">
                <a:solidFill>
                  <a:srgbClr val="C8D8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Nada aqui responde no lugar do seu time. A plataforma cuida do que uma pessoa não consegue fazer sozinha: olhar 240 conversas ao mesmo tempo.</a:t>
            </a:r>
            <a:endParaRPr lang="en-US" sz="2325" dirty="0"/>
          </a:p>
        </p:txBody>
      </p:sp>
      <p:sp>
        <p:nvSpPr>
          <p:cNvPr id="8" name="Shape 6"/>
          <p:cNvSpPr/>
          <p:nvPr/>
        </p:nvSpPr>
        <p:spPr>
          <a:xfrm>
            <a:off x="9447609" y="3381613"/>
            <a:ext cx="7887891" cy="1415415"/>
          </a:xfrm>
          <a:prstGeom prst="roundRect">
            <a:avLst>
              <a:gd name="adj" fmla="val 10767"/>
            </a:avLst>
          </a:prstGeom>
          <a:solidFill>
            <a:srgbClr val="FFFFFF">
              <a:alpha val="4000"/>
            </a:srgbClr>
          </a:solidFill>
          <a:ln w="7620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17180" y="3694033"/>
            <a:ext cx="786362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8EAC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PARCEIROS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817180" y="4113133"/>
            <a:ext cx="7863626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372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240 grupos de WhatsApp, um por agência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9942909" y="4797028"/>
            <a:ext cx="9525" cy="323850"/>
          </a:xfrm>
          <a:prstGeom prst="rect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9447609" y="5120878"/>
            <a:ext cx="7887891" cy="1438275"/>
          </a:xfrm>
          <a:prstGeom prst="roundRect">
            <a:avLst>
              <a:gd name="adj" fmla="val 10596"/>
            </a:avLst>
          </a:prstGeom>
          <a:solidFill>
            <a:srgbClr val="6E9489"/>
          </a:solidFill>
          <a:ln/>
        </p:spPr>
      </p:sp>
      <p:sp>
        <p:nvSpPr>
          <p:cNvPr id="13" name="Text 11"/>
          <p:cNvSpPr/>
          <p:nvPr/>
        </p:nvSpPr>
        <p:spPr>
          <a:xfrm>
            <a:off x="9809559" y="5444728"/>
            <a:ext cx="788039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E1EA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MASTERBOT · CAMADA DE GESTÃO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809559" y="5863828"/>
            <a:ext cx="788039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372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Tickets, filas, carteiras, histórico e indicadores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9942909" y="6559153"/>
            <a:ext cx="9525" cy="323850"/>
          </a:xfrm>
          <a:prstGeom prst="rect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9447609" y="6883003"/>
            <a:ext cx="7887891" cy="1415415"/>
          </a:xfrm>
          <a:prstGeom prst="roundRect">
            <a:avLst>
              <a:gd name="adj" fmla="val 10767"/>
            </a:avLst>
          </a:prstGeom>
          <a:solidFill>
            <a:srgbClr val="FFFFFF">
              <a:alpha val="4000"/>
            </a:srgbClr>
          </a:solidFill>
          <a:ln w="7620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17180" y="7195423"/>
            <a:ext cx="786362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8EAC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OZ CÂMBIO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817180" y="7614523"/>
            <a:ext cx="7863626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372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pessoas atendendo · supervisão enxergando tudo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9447609" y="8546068"/>
            <a:ext cx="8124527" cy="3971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365"/>
              </a:lnSpc>
              <a:buNone/>
            </a:pPr>
            <a:r>
              <a:rPr lang="en-US" sz="1950" dirty="0">
                <a:solidFill>
                  <a:srgbClr val="9BA5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responde ao parceiro continua sendo o time da OZ.</a:t>
            </a:r>
            <a:endParaRPr lang="en-US" sz="1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76300"/>
            <a:ext cx="186080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5C7D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PREMISSA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151305" y="876300"/>
            <a:ext cx="126039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9BA5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13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952500" y="1390650"/>
            <a:ext cx="16383000" cy="9525"/>
          </a:xfrm>
          <a:prstGeom prst="rect">
            <a:avLst/>
          </a:prstGeom>
          <a:solidFill>
            <a:srgbClr val="C8D8D2"/>
          </a:solidFill>
          <a:ln/>
        </p:spPr>
      </p:sp>
      <p:sp>
        <p:nvSpPr>
          <p:cNvPr id="5" name="Text 3"/>
          <p:cNvSpPr/>
          <p:nvPr/>
        </p:nvSpPr>
        <p:spPr>
          <a:xfrm>
            <a:off x="952500" y="1781175"/>
            <a:ext cx="18021300" cy="675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045"/>
              </a:lnSpc>
              <a:buNone/>
            </a:pPr>
            <a:r>
              <a:rPr lang="en-US" sz="4650" b="1" spc="-116" kern="0" dirty="0">
                <a:solidFill>
                  <a:srgbClr val="171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Duas listas para tirar a dúvida de uma vez</a:t>
            </a:r>
            <a:endParaRPr lang="en-US" sz="4650" dirty="0"/>
          </a:p>
        </p:txBody>
      </p:sp>
      <p:sp>
        <p:nvSpPr>
          <p:cNvPr id="6" name="Shape 4"/>
          <p:cNvSpPr/>
          <p:nvPr/>
        </p:nvSpPr>
        <p:spPr>
          <a:xfrm>
            <a:off x="952500" y="2799874"/>
            <a:ext cx="7981950" cy="6763226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7620">
            <a:solidFill>
              <a:srgbClr val="E0E5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9220" y="3226594"/>
            <a:ext cx="7841361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234" kern="0" dirty="0">
                <a:solidFill>
                  <a:srgbClr val="9BA5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QUE NÃO É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379220" y="3855244"/>
            <a:ext cx="22479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C8CF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718310" y="3840004"/>
            <a:ext cx="7301508" cy="39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154"/>
              </a:lnSpc>
              <a:buNone/>
            </a:pPr>
            <a:r>
              <a:rPr lang="en-US" sz="2025" dirty="0">
                <a:solidFill>
                  <a:srgbClr val="515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robô respondendo o parceiro no lugar da sua equipe.</a:t>
            </a:r>
            <a:endParaRPr lang="en-US" sz="2025" dirty="0"/>
          </a:p>
        </p:txBody>
      </p:sp>
      <p:sp>
        <p:nvSpPr>
          <p:cNvPr id="10" name="Text 8"/>
          <p:cNvSpPr/>
          <p:nvPr/>
        </p:nvSpPr>
        <p:spPr>
          <a:xfrm>
            <a:off x="1379220" y="4443889"/>
            <a:ext cx="22479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C8CF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718310" y="4428649"/>
            <a:ext cx="6980111" cy="39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154"/>
              </a:lnSpc>
              <a:buNone/>
            </a:pPr>
            <a:r>
              <a:rPr lang="en-US" sz="2025" dirty="0">
                <a:solidFill>
                  <a:srgbClr val="515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menu automático entre o parceiro e quem resolve.</a:t>
            </a:r>
            <a:endParaRPr lang="en-US" sz="2025" dirty="0"/>
          </a:p>
        </p:txBody>
      </p:sp>
      <p:sp>
        <p:nvSpPr>
          <p:cNvPr id="12" name="Text 10"/>
          <p:cNvSpPr/>
          <p:nvPr/>
        </p:nvSpPr>
        <p:spPr>
          <a:xfrm>
            <a:off x="1379220" y="5032534"/>
            <a:ext cx="22479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C8CF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718310" y="5017294"/>
            <a:ext cx="5185446" cy="39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154"/>
              </a:lnSpc>
              <a:buNone/>
            </a:pPr>
            <a:r>
              <a:rPr lang="en-US" sz="2025" dirty="0">
                <a:solidFill>
                  <a:srgbClr val="515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Troca do WhatsApp por outro aplicativo.</a:t>
            </a:r>
            <a:endParaRPr lang="en-US" sz="2025" dirty="0"/>
          </a:p>
        </p:txBody>
      </p:sp>
      <p:sp>
        <p:nvSpPr>
          <p:cNvPr id="14" name="Text 12"/>
          <p:cNvSpPr/>
          <p:nvPr/>
        </p:nvSpPr>
        <p:spPr>
          <a:xfrm>
            <a:off x="1379220" y="5621179"/>
            <a:ext cx="22479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C8CF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718310" y="5605939"/>
            <a:ext cx="6633436" cy="39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154"/>
              </a:lnSpc>
              <a:buNone/>
            </a:pPr>
            <a:r>
              <a:rPr lang="en-US" sz="2025" dirty="0">
                <a:solidFill>
                  <a:srgbClr val="515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Mudança na forma como o parceiro fala com vocês.</a:t>
            </a:r>
            <a:endParaRPr lang="en-US" sz="2025" dirty="0"/>
          </a:p>
        </p:txBody>
      </p:sp>
      <p:sp>
        <p:nvSpPr>
          <p:cNvPr id="16" name="Shape 14"/>
          <p:cNvSpPr/>
          <p:nvPr/>
        </p:nvSpPr>
        <p:spPr>
          <a:xfrm>
            <a:off x="9353550" y="2799874"/>
            <a:ext cx="7981950" cy="6763226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7620">
            <a:solidFill>
              <a:srgbClr val="A8BFB8"/>
            </a:solidFill>
            <a:prstDash val="solid"/>
          </a:ln>
          <a:effectLst>
            <a:outerShdw sx="100000" sy="100000" kx="0" ky="0" algn="bl" rotWithShape="0" blurRad="114300" dist="19050" dir="5400000">
              <a:srgbClr val="171B1A">
                <a:alpha val="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780270" y="3226594"/>
            <a:ext cx="7841361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234" kern="0" dirty="0">
                <a:solidFill>
                  <a:srgbClr val="4B6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QUE É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9780270" y="3855244"/>
            <a:ext cx="21240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6E94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0106977" y="3840004"/>
            <a:ext cx="6826615" cy="39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154"/>
              </a:lnSpc>
              <a:buNone/>
            </a:pPr>
            <a:r>
              <a:rPr lang="en-US" sz="2025" dirty="0">
                <a:solidFill>
                  <a:srgbClr val="171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sala de controle sobre os grupos que já existem.</a:t>
            </a:r>
            <a:endParaRPr lang="en-US" sz="2025" dirty="0"/>
          </a:p>
        </p:txBody>
      </p:sp>
      <p:sp>
        <p:nvSpPr>
          <p:cNvPr id="20" name="Text 18"/>
          <p:cNvSpPr/>
          <p:nvPr/>
        </p:nvSpPr>
        <p:spPr>
          <a:xfrm>
            <a:off x="9780270" y="4443889"/>
            <a:ext cx="21240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6E94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10106977" y="4428649"/>
            <a:ext cx="7005857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154"/>
              </a:lnSpc>
              <a:buNone/>
            </a:pPr>
            <a:r>
              <a:rPr lang="en-US" sz="2025" dirty="0">
                <a:solidFill>
                  <a:srgbClr val="171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Visibilidade de quem respondeu, quando e o que ficou pendente.</a:t>
            </a:r>
            <a:endParaRPr lang="en-US" sz="2025" dirty="0"/>
          </a:p>
        </p:txBody>
      </p:sp>
      <p:sp>
        <p:nvSpPr>
          <p:cNvPr id="22" name="Text 20"/>
          <p:cNvSpPr/>
          <p:nvPr/>
        </p:nvSpPr>
        <p:spPr>
          <a:xfrm>
            <a:off x="9780270" y="5392579"/>
            <a:ext cx="21240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6E94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10106977" y="5377339"/>
            <a:ext cx="7005857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154"/>
              </a:lnSpc>
              <a:buNone/>
            </a:pPr>
            <a:r>
              <a:rPr lang="en-US" sz="2025" dirty="0">
                <a:solidFill>
                  <a:srgbClr val="171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Histórico completo de cada parceiro, recuperável em segundos.</a:t>
            </a:r>
            <a:endParaRPr lang="en-US" sz="2025" dirty="0"/>
          </a:p>
        </p:txBody>
      </p:sp>
      <p:sp>
        <p:nvSpPr>
          <p:cNvPr id="24" name="Text 22"/>
          <p:cNvSpPr/>
          <p:nvPr/>
        </p:nvSpPr>
        <p:spPr>
          <a:xfrm>
            <a:off x="9780270" y="6341269"/>
            <a:ext cx="21240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6E94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10106977" y="6326029"/>
            <a:ext cx="7005857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154"/>
              </a:lnSpc>
              <a:buNone/>
            </a:pPr>
            <a:r>
              <a:rPr lang="en-US" sz="2025" dirty="0">
                <a:solidFill>
                  <a:srgbClr val="171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números do atendimento que hoje ninguém consegue extrair.</a:t>
            </a:r>
            <a:endParaRPr lang="en-US" sz="20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76300"/>
            <a:ext cx="334952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5C7D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PRODUTO · 1 DE 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151305" y="876300"/>
            <a:ext cx="126039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9BA5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13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952500" y="1390650"/>
            <a:ext cx="16383000" cy="9525"/>
          </a:xfrm>
          <a:prstGeom prst="rect">
            <a:avLst/>
          </a:prstGeom>
          <a:solidFill>
            <a:srgbClr val="C8D8D2"/>
          </a:solidFill>
          <a:ln/>
        </p:spPr>
      </p:sp>
      <p:sp>
        <p:nvSpPr>
          <p:cNvPr id="5" name="Text 3"/>
          <p:cNvSpPr/>
          <p:nvPr/>
        </p:nvSpPr>
        <p:spPr>
          <a:xfrm>
            <a:off x="952500" y="1704975"/>
            <a:ext cx="18021300" cy="675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045"/>
              </a:lnSpc>
              <a:buNone/>
            </a:pPr>
            <a:r>
              <a:rPr lang="en-US" sz="4650" b="1" spc="-116" kern="0" dirty="0">
                <a:solidFill>
                  <a:srgbClr val="171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é o Masterbot, em termos concretos</a:t>
            </a:r>
            <a:endParaRPr lang="en-US" sz="4650" dirty="0"/>
          </a:p>
        </p:txBody>
      </p:sp>
      <p:sp>
        <p:nvSpPr>
          <p:cNvPr id="6" name="Text 4"/>
          <p:cNvSpPr/>
          <p:nvPr/>
        </p:nvSpPr>
        <p:spPr>
          <a:xfrm>
            <a:off x="952500" y="2647474"/>
            <a:ext cx="15893415" cy="7839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481"/>
              </a:lnSpc>
              <a:buNone/>
            </a:pPr>
            <a:r>
              <a:rPr lang="en-US" sz="2025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 uma plataforma de atendimento multicanal. Cada bloco abaixo já existe no produto — ao lado, o que ele significa dentro da operação de vocês. Estes três são o que a OZ usa desde o primeiro dia.</a:t>
            </a:r>
            <a:endParaRPr lang="en-US" sz="2025" dirty="0"/>
          </a:p>
        </p:txBody>
      </p:sp>
      <p:sp>
        <p:nvSpPr>
          <p:cNvPr id="7" name="Shape 5"/>
          <p:cNvSpPr/>
          <p:nvPr/>
        </p:nvSpPr>
        <p:spPr>
          <a:xfrm>
            <a:off x="952500" y="3698081"/>
            <a:ext cx="5257800" cy="5865019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7620">
            <a:solidFill>
              <a:srgbClr val="E0E5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03020" y="4048601"/>
            <a:ext cx="501243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6E94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ATENDIMENTO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03020" y="4505801"/>
            <a:ext cx="5012436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682"/>
              </a:lnSpc>
              <a:buNone/>
            </a:pPr>
            <a:r>
              <a:rPr lang="en-US" sz="2325" b="1" dirty="0">
                <a:solidFill>
                  <a:srgbClr val="171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Tickets, filas e carteiras</a:t>
            </a:r>
            <a:endParaRPr lang="en-US" sz="2325" dirty="0"/>
          </a:p>
        </p:txBody>
      </p:sp>
      <p:sp>
        <p:nvSpPr>
          <p:cNvPr id="10" name="Text 8"/>
          <p:cNvSpPr/>
          <p:nvPr/>
        </p:nvSpPr>
        <p:spPr>
          <a:xfrm>
            <a:off x="1303020" y="5012531"/>
            <a:ext cx="4693463" cy="1073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868"/>
              </a:lnSpc>
              <a:buNone/>
            </a:pPr>
            <a:r>
              <a:rPr lang="en-US" sz="1875" dirty="0">
                <a:solidFill>
                  <a:srgbClr val="515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Distribuição de tickets, painel de atendimento, protocolo, avaliação, notas, etiquetas e carteira fixa por atendente.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1303020" y="7978616"/>
            <a:ext cx="4556760" cy="9525"/>
          </a:xfrm>
          <a:prstGeom prst="rect">
            <a:avLst/>
          </a:prstGeom>
          <a:solidFill>
            <a:srgbClr val="E0E5E3"/>
          </a:solidFill>
          <a:ln/>
        </p:spPr>
      </p:sp>
      <p:sp>
        <p:nvSpPr>
          <p:cNvPr id="12" name="Text 10"/>
          <p:cNvSpPr/>
          <p:nvPr/>
        </p:nvSpPr>
        <p:spPr>
          <a:xfrm>
            <a:off x="1303020" y="8176736"/>
            <a:ext cx="4693463" cy="1073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868"/>
              </a:lnSpc>
              <a:buNone/>
            </a:pPr>
            <a:r>
              <a:rPr lang="en-US" sz="1875" b="1" dirty="0">
                <a:solidFill>
                  <a:srgbClr val="4B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OZ: </a:t>
            </a:r>
            <a:pPr algn="l" indent="0" marL="0">
              <a:lnSpc>
                <a:spcPct val="125868"/>
              </a:lnSpc>
              <a:buNone/>
            </a:pPr>
            <a:r>
              <a:rPr lang="en-US" sz="1875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demanda de agência vira um item com dono e prazo, respeitando a divisão por Mesa, Cadastro e Operação.</a:t>
            </a:r>
            <a:endParaRPr lang="en-US" sz="1875" dirty="0"/>
          </a:p>
        </p:txBody>
      </p:sp>
      <p:sp>
        <p:nvSpPr>
          <p:cNvPr id="13" name="Shape 11"/>
          <p:cNvSpPr/>
          <p:nvPr/>
        </p:nvSpPr>
        <p:spPr>
          <a:xfrm>
            <a:off x="6515100" y="3698081"/>
            <a:ext cx="5257800" cy="5865019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7620">
            <a:solidFill>
              <a:srgbClr val="E0E5E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65620" y="4048601"/>
            <a:ext cx="501243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6E94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GRUPOS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865620" y="4505801"/>
            <a:ext cx="5012436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682"/>
              </a:lnSpc>
              <a:buNone/>
            </a:pPr>
            <a:r>
              <a:rPr lang="en-US" sz="2325" b="1" dirty="0">
                <a:solidFill>
                  <a:srgbClr val="171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Criação e gestão de grupos</a:t>
            </a:r>
            <a:endParaRPr lang="en-US" sz="2325" dirty="0"/>
          </a:p>
        </p:txBody>
      </p:sp>
      <p:sp>
        <p:nvSpPr>
          <p:cNvPr id="16" name="Text 14"/>
          <p:cNvSpPr/>
          <p:nvPr/>
        </p:nvSpPr>
        <p:spPr>
          <a:xfrm>
            <a:off x="6865620" y="5012531"/>
            <a:ext cx="4693463" cy="1073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868"/>
              </a:lnSpc>
              <a:buNone/>
            </a:pPr>
            <a:r>
              <a:rPr lang="en-US" sz="1875" dirty="0">
                <a:solidFill>
                  <a:srgbClr val="515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grupos de WhatsApp entram como objeto da plataforma, com gestão em massa e histórico preservado.</a:t>
            </a:r>
            <a:endParaRPr lang="en-US" sz="1875" dirty="0"/>
          </a:p>
        </p:txBody>
      </p:sp>
      <p:sp>
        <p:nvSpPr>
          <p:cNvPr id="17" name="Shape 15"/>
          <p:cNvSpPr/>
          <p:nvPr/>
        </p:nvSpPr>
        <p:spPr>
          <a:xfrm>
            <a:off x="6865620" y="7978616"/>
            <a:ext cx="4556760" cy="9525"/>
          </a:xfrm>
          <a:prstGeom prst="rect">
            <a:avLst/>
          </a:prstGeom>
          <a:solidFill>
            <a:srgbClr val="E0E5E3"/>
          </a:solidFill>
          <a:ln/>
        </p:spPr>
      </p:sp>
      <p:sp>
        <p:nvSpPr>
          <p:cNvPr id="18" name="Text 16"/>
          <p:cNvSpPr/>
          <p:nvPr/>
        </p:nvSpPr>
        <p:spPr>
          <a:xfrm>
            <a:off x="6865620" y="8176736"/>
            <a:ext cx="4693463" cy="1073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868"/>
              </a:lnSpc>
              <a:buNone/>
            </a:pPr>
            <a:r>
              <a:rPr lang="en-US" sz="1875" b="1" dirty="0">
                <a:solidFill>
                  <a:srgbClr val="4B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OZ: </a:t>
            </a:r>
            <a:pPr algn="l" indent="0" marL="0">
              <a:lnSpc>
                <a:spcPct val="125868"/>
              </a:lnSpc>
              <a:buNone/>
            </a:pPr>
            <a:r>
              <a:rPr lang="en-US" sz="1875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240 grupos por agência continuam existindo — passam a ser administráveis de um lugar só.</a:t>
            </a:r>
            <a:endParaRPr lang="en-US" sz="1875" dirty="0"/>
          </a:p>
        </p:txBody>
      </p:sp>
      <p:sp>
        <p:nvSpPr>
          <p:cNvPr id="19" name="Shape 17"/>
          <p:cNvSpPr/>
          <p:nvPr/>
        </p:nvSpPr>
        <p:spPr>
          <a:xfrm>
            <a:off x="12077700" y="3698081"/>
            <a:ext cx="5257800" cy="5865019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7620">
            <a:solidFill>
              <a:srgbClr val="E0E5E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428220" y="4048601"/>
            <a:ext cx="501243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6E94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EQUIPE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428220" y="4505801"/>
            <a:ext cx="5012436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682"/>
              </a:lnSpc>
              <a:buNone/>
            </a:pPr>
            <a:r>
              <a:rPr lang="en-US" sz="2325" b="1" dirty="0">
                <a:solidFill>
                  <a:srgbClr val="171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Equipes, tarefas e chat interno</a:t>
            </a:r>
            <a:endParaRPr lang="en-US" sz="2325" dirty="0"/>
          </a:p>
        </p:txBody>
      </p:sp>
      <p:sp>
        <p:nvSpPr>
          <p:cNvPr id="22" name="Text 20"/>
          <p:cNvSpPr/>
          <p:nvPr/>
        </p:nvSpPr>
        <p:spPr>
          <a:xfrm>
            <a:off x="12428220" y="5012531"/>
            <a:ext cx="4693463" cy="728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868"/>
              </a:lnSpc>
              <a:buNone/>
            </a:pPr>
            <a:r>
              <a:rPr lang="en-US" sz="1875" dirty="0">
                <a:solidFill>
                  <a:srgbClr val="515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Times, painel de tarefas e um canal interno paralelo à conversa com o cliente.</a:t>
            </a:r>
            <a:endParaRPr lang="en-US" sz="1875" dirty="0"/>
          </a:p>
        </p:txBody>
      </p:sp>
      <p:sp>
        <p:nvSpPr>
          <p:cNvPr id="23" name="Shape 21"/>
          <p:cNvSpPr/>
          <p:nvPr/>
        </p:nvSpPr>
        <p:spPr>
          <a:xfrm>
            <a:off x="12428220" y="8323898"/>
            <a:ext cx="4556760" cy="9525"/>
          </a:xfrm>
          <a:prstGeom prst="rect">
            <a:avLst/>
          </a:prstGeom>
          <a:solidFill>
            <a:srgbClr val="E0E5E3"/>
          </a:solidFill>
          <a:ln/>
        </p:spPr>
      </p:sp>
      <p:sp>
        <p:nvSpPr>
          <p:cNvPr id="24" name="Text 22"/>
          <p:cNvSpPr/>
          <p:nvPr/>
        </p:nvSpPr>
        <p:spPr>
          <a:xfrm>
            <a:off x="12428220" y="8522018"/>
            <a:ext cx="4693463" cy="728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868"/>
              </a:lnSpc>
              <a:buNone/>
            </a:pPr>
            <a:r>
              <a:rPr lang="en-US" sz="1875" b="1" dirty="0">
                <a:solidFill>
                  <a:srgbClr val="4B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OZ: </a:t>
            </a:r>
            <a:pPr algn="l" indent="0" marL="0">
              <a:lnSpc>
                <a:spcPct val="125868"/>
              </a:lnSpc>
              <a:buNone/>
            </a:pPr>
            <a:r>
              <a:rPr lang="en-US" sz="1875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supervisão orienta o atendente sem entrar no grupo do parceiro.</a:t>
            </a:r>
            <a:endParaRPr lang="en-US" sz="18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76300"/>
            <a:ext cx="334952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5C7D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PRODUTO · 2 DE 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151305" y="876300"/>
            <a:ext cx="126039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9BA5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13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952500" y="1390650"/>
            <a:ext cx="16383000" cy="9525"/>
          </a:xfrm>
          <a:prstGeom prst="rect">
            <a:avLst/>
          </a:prstGeom>
          <a:solidFill>
            <a:srgbClr val="C8D8D2"/>
          </a:solidFill>
          <a:ln/>
        </p:spPr>
      </p:sp>
      <p:sp>
        <p:nvSpPr>
          <p:cNvPr id="5" name="Text 3"/>
          <p:cNvSpPr/>
          <p:nvPr/>
        </p:nvSpPr>
        <p:spPr>
          <a:xfrm>
            <a:off x="952500" y="1704975"/>
            <a:ext cx="18021300" cy="675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045"/>
              </a:lnSpc>
              <a:buNone/>
            </a:pPr>
            <a:r>
              <a:rPr lang="en-US" sz="4650" b="1" spc="-116" kern="0" dirty="0">
                <a:solidFill>
                  <a:srgbClr val="171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sustenta a operação, e o que fica desligado</a:t>
            </a:r>
            <a:endParaRPr lang="en-US" sz="4650" dirty="0"/>
          </a:p>
        </p:txBody>
      </p:sp>
      <p:sp>
        <p:nvSpPr>
          <p:cNvPr id="6" name="Text 4"/>
          <p:cNvSpPr/>
          <p:nvPr/>
        </p:nvSpPr>
        <p:spPr>
          <a:xfrm>
            <a:off x="952500" y="2647474"/>
            <a:ext cx="16973550" cy="4110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481"/>
              </a:lnSpc>
              <a:buNone/>
            </a:pPr>
            <a:r>
              <a:rPr lang="en-US" sz="2025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base técnica que faz os grupos e os relatórios funcionarem, mais a camada que só entra quando vocês decidirem.</a:t>
            </a:r>
            <a:endParaRPr lang="en-US" sz="2025" dirty="0"/>
          </a:p>
        </p:txBody>
      </p:sp>
      <p:sp>
        <p:nvSpPr>
          <p:cNvPr id="7" name="Shape 5"/>
          <p:cNvSpPr/>
          <p:nvPr/>
        </p:nvSpPr>
        <p:spPr>
          <a:xfrm>
            <a:off x="952500" y="3325178"/>
            <a:ext cx="5257800" cy="6237923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7620">
            <a:solidFill>
              <a:srgbClr val="E0E5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03020" y="3675697"/>
            <a:ext cx="501243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6E94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CANAIS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03020" y="4132897"/>
            <a:ext cx="5012436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682"/>
              </a:lnSpc>
              <a:buNone/>
            </a:pPr>
            <a:r>
              <a:rPr lang="en-US" sz="2325" b="1" dirty="0">
                <a:solidFill>
                  <a:srgbClr val="171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 oficial e não oficial</a:t>
            </a:r>
            <a:endParaRPr lang="en-US" sz="2325" dirty="0"/>
          </a:p>
        </p:txBody>
      </p:sp>
      <p:sp>
        <p:nvSpPr>
          <p:cNvPr id="10" name="Text 8"/>
          <p:cNvSpPr/>
          <p:nvPr/>
        </p:nvSpPr>
        <p:spPr>
          <a:xfrm>
            <a:off x="1303020" y="4639628"/>
            <a:ext cx="4693463" cy="1073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868"/>
              </a:lnSpc>
              <a:buNone/>
            </a:pPr>
            <a:r>
              <a:rPr lang="en-US" sz="1875" dirty="0">
                <a:solidFill>
                  <a:srgbClr val="515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WABA (API oficial da Meta), Baileys e WebJs por QR Code, além de Telegram — vários números no mesmo painel.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1303020" y="7978616"/>
            <a:ext cx="4556760" cy="9525"/>
          </a:xfrm>
          <a:prstGeom prst="rect">
            <a:avLst/>
          </a:prstGeom>
          <a:solidFill>
            <a:srgbClr val="E0E5E3"/>
          </a:solidFill>
          <a:ln/>
        </p:spPr>
      </p:sp>
      <p:sp>
        <p:nvSpPr>
          <p:cNvPr id="12" name="Text 10"/>
          <p:cNvSpPr/>
          <p:nvPr/>
        </p:nvSpPr>
        <p:spPr>
          <a:xfrm>
            <a:off x="1303020" y="8176736"/>
            <a:ext cx="4693463" cy="1073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868"/>
              </a:lnSpc>
              <a:buNone/>
            </a:pPr>
            <a:r>
              <a:rPr lang="en-US" sz="1875" b="1" dirty="0">
                <a:solidFill>
                  <a:srgbClr val="4B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OZ: </a:t>
            </a:r>
            <a:pPr algn="l" indent="0" marL="0">
              <a:lnSpc>
                <a:spcPct val="125868"/>
              </a:lnSpc>
              <a:buNone/>
            </a:pPr>
            <a:r>
              <a:rPr lang="en-US" sz="1875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começa pelo número que já está em uso, sem migrar ninguém de aplicativo.</a:t>
            </a:r>
            <a:endParaRPr lang="en-US" sz="1875" dirty="0"/>
          </a:p>
        </p:txBody>
      </p:sp>
      <p:sp>
        <p:nvSpPr>
          <p:cNvPr id="13" name="Shape 11"/>
          <p:cNvSpPr/>
          <p:nvPr/>
        </p:nvSpPr>
        <p:spPr>
          <a:xfrm>
            <a:off x="6515100" y="3325178"/>
            <a:ext cx="5257800" cy="6237923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7620">
            <a:solidFill>
              <a:srgbClr val="E0E5E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65620" y="3675697"/>
            <a:ext cx="501243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6E94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GESTÃO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865620" y="4132897"/>
            <a:ext cx="5012436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682"/>
              </a:lnSpc>
              <a:buNone/>
            </a:pPr>
            <a:r>
              <a:rPr lang="en-US" sz="2325" b="1" dirty="0">
                <a:solidFill>
                  <a:srgbClr val="171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Relatórios e funil</a:t>
            </a:r>
            <a:endParaRPr lang="en-US" sz="2325" dirty="0"/>
          </a:p>
        </p:txBody>
      </p:sp>
      <p:sp>
        <p:nvSpPr>
          <p:cNvPr id="16" name="Text 14"/>
          <p:cNvSpPr/>
          <p:nvPr/>
        </p:nvSpPr>
        <p:spPr>
          <a:xfrm>
            <a:off x="6865620" y="4639628"/>
            <a:ext cx="4693463" cy="1073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868"/>
              </a:lnSpc>
              <a:buNone/>
            </a:pPr>
            <a:r>
              <a:rPr lang="en-US" sz="1875" dirty="0">
                <a:solidFill>
                  <a:srgbClr val="515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Relatórios de atendimento, painel geral e funil de oportunidades com etapas próprias.</a:t>
            </a:r>
            <a:endParaRPr lang="en-US" sz="1875" dirty="0"/>
          </a:p>
        </p:txBody>
      </p:sp>
      <p:sp>
        <p:nvSpPr>
          <p:cNvPr id="17" name="Shape 15"/>
          <p:cNvSpPr/>
          <p:nvPr/>
        </p:nvSpPr>
        <p:spPr>
          <a:xfrm>
            <a:off x="6865620" y="7978616"/>
            <a:ext cx="4556760" cy="9525"/>
          </a:xfrm>
          <a:prstGeom prst="rect">
            <a:avLst/>
          </a:prstGeom>
          <a:solidFill>
            <a:srgbClr val="E0E5E3"/>
          </a:solidFill>
          <a:ln/>
        </p:spPr>
      </p:sp>
      <p:sp>
        <p:nvSpPr>
          <p:cNvPr id="18" name="Text 16"/>
          <p:cNvSpPr/>
          <p:nvPr/>
        </p:nvSpPr>
        <p:spPr>
          <a:xfrm>
            <a:off x="6865620" y="8176736"/>
            <a:ext cx="4693463" cy="1073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868"/>
              </a:lnSpc>
              <a:buNone/>
            </a:pPr>
            <a:r>
              <a:rPr lang="en-US" sz="1875" b="1" dirty="0">
                <a:solidFill>
                  <a:srgbClr val="4B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OZ: </a:t>
            </a:r>
            <a:pPr algn="l" indent="0" marL="0">
              <a:lnSpc>
                <a:spcPct val="125868"/>
              </a:lnSpc>
              <a:buNone/>
            </a:pPr>
            <a:r>
              <a:rPr lang="en-US" sz="1875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volume por agência, por fila e por horário vira relatório — hoje isso não existe.</a:t>
            </a:r>
            <a:endParaRPr lang="en-US" sz="1875" dirty="0"/>
          </a:p>
        </p:txBody>
      </p:sp>
      <p:sp>
        <p:nvSpPr>
          <p:cNvPr id="19" name="Shape 17"/>
          <p:cNvSpPr/>
          <p:nvPr/>
        </p:nvSpPr>
        <p:spPr>
          <a:xfrm>
            <a:off x="12077700" y="3325178"/>
            <a:ext cx="5257800" cy="6237923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7620">
            <a:solidFill>
              <a:srgbClr val="E0E5E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428220" y="3675697"/>
            <a:ext cx="501243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6E94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EXTENSÕES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428220" y="4132897"/>
            <a:ext cx="5012436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682"/>
              </a:lnSpc>
              <a:buNone/>
            </a:pPr>
            <a:r>
              <a:rPr lang="en-US" sz="2325" b="1" dirty="0">
                <a:solidFill>
                  <a:srgbClr val="171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Integrações e IA — opcionais</a:t>
            </a:r>
            <a:endParaRPr lang="en-US" sz="2325" dirty="0"/>
          </a:p>
        </p:txBody>
      </p:sp>
      <p:sp>
        <p:nvSpPr>
          <p:cNvPr id="22" name="Text 20"/>
          <p:cNvSpPr/>
          <p:nvPr/>
        </p:nvSpPr>
        <p:spPr>
          <a:xfrm>
            <a:off x="12428220" y="4639628"/>
            <a:ext cx="4693463" cy="1073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868"/>
              </a:lnSpc>
              <a:buNone/>
            </a:pPr>
            <a:r>
              <a:rPr lang="en-US" sz="1875" dirty="0">
                <a:solidFill>
                  <a:srgbClr val="515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e webhooks para qualquer sistema, integração com n8n, Dify e Typebot, e modelos de IA quando se deseja usá-los.</a:t>
            </a:r>
            <a:endParaRPr lang="en-US" sz="1875" dirty="0"/>
          </a:p>
        </p:txBody>
      </p:sp>
      <p:sp>
        <p:nvSpPr>
          <p:cNvPr id="23" name="Shape 21"/>
          <p:cNvSpPr/>
          <p:nvPr/>
        </p:nvSpPr>
        <p:spPr>
          <a:xfrm>
            <a:off x="12428220" y="8323898"/>
            <a:ext cx="4556760" cy="9525"/>
          </a:xfrm>
          <a:prstGeom prst="rect">
            <a:avLst/>
          </a:prstGeom>
          <a:solidFill>
            <a:srgbClr val="E0E5E3"/>
          </a:solidFill>
          <a:ln/>
        </p:spPr>
      </p:sp>
      <p:sp>
        <p:nvSpPr>
          <p:cNvPr id="24" name="Text 22"/>
          <p:cNvSpPr/>
          <p:nvPr/>
        </p:nvSpPr>
        <p:spPr>
          <a:xfrm>
            <a:off x="12428220" y="8522018"/>
            <a:ext cx="4693463" cy="728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868"/>
              </a:lnSpc>
              <a:buNone/>
            </a:pPr>
            <a:r>
              <a:rPr lang="en-US" sz="1875" b="1" dirty="0">
                <a:solidFill>
                  <a:srgbClr val="4B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OZ: </a:t>
            </a:r>
            <a:pPr algn="l" indent="0" marL="0">
              <a:lnSpc>
                <a:spcPct val="125868"/>
              </a:lnSpc>
              <a:buNone/>
            </a:pPr>
            <a:r>
              <a:rPr lang="en-US" sz="1875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ficam desligados no início. Entram só se e quando vocês quiserem.</a:t>
            </a:r>
            <a:endParaRPr lang="en-US" sz="18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23900"/>
            <a:ext cx="502422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5C7D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UMA TELA PARA OS 240 GRUPOS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151305" y="723900"/>
            <a:ext cx="126039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9BA5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13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952500" y="1200150"/>
            <a:ext cx="16383000" cy="9525"/>
          </a:xfrm>
          <a:prstGeom prst="rect">
            <a:avLst/>
          </a:prstGeom>
          <a:solidFill>
            <a:srgbClr val="C8D8D2"/>
          </a:solidFill>
          <a:ln/>
        </p:spPr>
      </p:sp>
      <p:sp>
        <p:nvSpPr>
          <p:cNvPr id="5" name="Text 3"/>
          <p:cNvSpPr/>
          <p:nvPr/>
        </p:nvSpPr>
        <p:spPr>
          <a:xfrm>
            <a:off x="952500" y="1419225"/>
            <a:ext cx="8089547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486"/>
              </a:lnSpc>
              <a:buNone/>
            </a:pPr>
            <a:r>
              <a:rPr lang="en-US" sz="3750" b="1" spc="-94" kern="0" dirty="0">
                <a:solidFill>
                  <a:srgbClr val="171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240 grupos em uma fila única</a:t>
            </a:r>
            <a:endParaRPr lang="en-US" sz="3750" dirty="0"/>
          </a:p>
        </p:txBody>
      </p:sp>
      <p:sp>
        <p:nvSpPr>
          <p:cNvPr id="6" name="Text 4"/>
          <p:cNvSpPr/>
          <p:nvPr/>
        </p:nvSpPr>
        <p:spPr>
          <a:xfrm>
            <a:off x="8878134" y="1594485"/>
            <a:ext cx="8710965" cy="1073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868"/>
              </a:lnSpc>
              <a:buNone/>
            </a:pPr>
            <a:r>
              <a:rPr lang="en-US" sz="1875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fila deixa de ser a rolagem do WhatsApp. Cada conversa de agência vira um atendimento com dono, fila, tempo em aberto e histórico — e o que passou do tempo aparece antes de o parceiro cobrar.</a:t>
            </a:r>
            <a:endParaRPr lang="en-US" sz="1875" dirty="0"/>
          </a:p>
        </p:txBody>
      </p:sp>
      <p:sp>
        <p:nvSpPr>
          <p:cNvPr id="7" name="Shape 5"/>
          <p:cNvSpPr/>
          <p:nvPr/>
        </p:nvSpPr>
        <p:spPr>
          <a:xfrm>
            <a:off x="3211116" y="2832378"/>
            <a:ext cx="11865650" cy="6513552"/>
          </a:xfrm>
          <a:prstGeom prst="roundRect">
            <a:avLst>
              <a:gd name="adj" fmla="val 2047"/>
            </a:avLst>
          </a:prstGeom>
          <a:ln w="7620">
            <a:solidFill>
              <a:srgbClr val="C8D8D2"/>
            </a:solidFill>
            <a:prstDash val="solid"/>
          </a:ln>
          <a:effectLst>
            <a:outerShdw sx="100000" sy="100000" kx="0" ky="0" algn="bl" rotWithShape="0" blurRad="114300" dist="19050" dir="5400000">
              <a:srgbClr val="171B1A">
                <a:alpha val="8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52" b="-52"/>
          <a:stretch/>
        </p:blipFill>
        <p:spPr>
          <a:xfrm>
            <a:off x="3211116" y="2832378"/>
            <a:ext cx="11865650" cy="651355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52500" y="9547860"/>
            <a:ext cx="1802130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1800" dirty="0">
                <a:solidFill>
                  <a:srgbClr val="6E7A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Tela real do Masterbot. Nomes de agências, mensagens e telefone são fictícios — a operação retratada é a da OZ.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76300"/>
            <a:ext cx="334952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5C7D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 QUEM COORDENA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151305" y="876300"/>
            <a:ext cx="126039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9BA5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/ 13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952500" y="1390650"/>
            <a:ext cx="16383000" cy="9525"/>
          </a:xfrm>
          <a:prstGeom prst="rect">
            <a:avLst/>
          </a:prstGeom>
          <a:solidFill>
            <a:srgbClr val="C8D8D2"/>
          </a:solidFill>
          <a:ln/>
        </p:spPr>
      </p:sp>
      <p:sp>
        <p:nvSpPr>
          <p:cNvPr id="5" name="Text 3"/>
          <p:cNvSpPr/>
          <p:nvPr/>
        </p:nvSpPr>
        <p:spPr>
          <a:xfrm>
            <a:off x="952500" y="1704975"/>
            <a:ext cx="18021300" cy="675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045"/>
              </a:lnSpc>
              <a:buNone/>
            </a:pPr>
            <a:r>
              <a:rPr lang="en-US" sz="4650" b="1" spc="-116" kern="0" dirty="0">
                <a:solidFill>
                  <a:srgbClr val="171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Sustentar o padrão sem entrar na conversa</a:t>
            </a:r>
            <a:endParaRPr lang="en-US" sz="4650" dirty="0"/>
          </a:p>
        </p:txBody>
      </p:sp>
      <p:sp>
        <p:nvSpPr>
          <p:cNvPr id="6" name="Text 4"/>
          <p:cNvSpPr/>
          <p:nvPr/>
        </p:nvSpPr>
        <p:spPr>
          <a:xfrm>
            <a:off x="952500" y="2647474"/>
            <a:ext cx="15893415" cy="7839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481"/>
              </a:lnSpc>
              <a:buNone/>
            </a:pPr>
            <a:r>
              <a:rPr lang="en-US" sz="2025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trabalho de garantir qualidade e assertividade em 240 grupos deixa de depender de acompanhar tudo em tempo real. Os quatro recursos abaixo estão na coluna direita da tela anterior.</a:t>
            </a:r>
            <a:endParaRPr lang="en-US" sz="2025" dirty="0"/>
          </a:p>
        </p:txBody>
      </p:sp>
      <p:sp>
        <p:nvSpPr>
          <p:cNvPr id="7" name="Shape 5"/>
          <p:cNvSpPr/>
          <p:nvPr/>
        </p:nvSpPr>
        <p:spPr>
          <a:xfrm>
            <a:off x="952500" y="3698081"/>
            <a:ext cx="5257800" cy="4586764"/>
          </a:xfrm>
          <a:prstGeom prst="roundRect">
            <a:avLst>
              <a:gd name="adj" fmla="val 4153"/>
            </a:avLst>
          </a:prstGeom>
          <a:solidFill>
            <a:srgbClr val="FFFFFF"/>
          </a:solidFill>
          <a:ln w="7620">
            <a:solidFill>
              <a:srgbClr val="E0E5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22070" y="4067651"/>
            <a:ext cx="497052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6E94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 INTERNO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22070" y="4524851"/>
            <a:ext cx="4970526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2400" b="1" dirty="0">
                <a:solidFill>
                  <a:srgbClr val="171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Orientação em paralelo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322070" y="5043011"/>
            <a:ext cx="4654220" cy="152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757"/>
              </a:lnSpc>
              <a:buNone/>
            </a:pPr>
            <a:r>
              <a:rPr lang="en-US" sz="1950" dirty="0">
                <a:solidFill>
                  <a:srgbClr val="515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Enquanto o atendente conversa com a agência, a supervisão fala com ele por um canal privado e corrige a rota antes de o erro chegar ao parceiro.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6515100" y="3698081"/>
            <a:ext cx="5257800" cy="4586764"/>
          </a:xfrm>
          <a:prstGeom prst="roundRect">
            <a:avLst>
              <a:gd name="adj" fmla="val 4153"/>
            </a:avLst>
          </a:prstGeom>
          <a:solidFill>
            <a:srgbClr val="FFFFFF"/>
          </a:solidFill>
          <a:ln w="7620">
            <a:solidFill>
              <a:srgbClr val="E0E5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84670" y="4067651"/>
            <a:ext cx="497052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6E94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HISTÓRICO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884670" y="4524851"/>
            <a:ext cx="4970526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2400" b="1" dirty="0">
                <a:solidFill>
                  <a:srgbClr val="171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Exportável em um clique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884670" y="5043011"/>
            <a:ext cx="4654220" cy="152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757"/>
              </a:lnSpc>
              <a:buNone/>
            </a:pPr>
            <a:r>
              <a:rPr lang="en-US" sz="1950" dirty="0">
                <a:solidFill>
                  <a:srgbClr val="515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 a conversa com um parceiro, do primeiro contato até agora, vira um PDF — útil em auditoria, disputa ou passagem de carteira.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12077700" y="3698081"/>
            <a:ext cx="5257800" cy="4586764"/>
          </a:xfrm>
          <a:prstGeom prst="roundRect">
            <a:avLst>
              <a:gd name="adj" fmla="val 4153"/>
            </a:avLst>
          </a:prstGeom>
          <a:solidFill>
            <a:srgbClr val="FFFFFF"/>
          </a:solidFill>
          <a:ln w="7620">
            <a:solidFill>
              <a:srgbClr val="E0E5E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447270" y="4067651"/>
            <a:ext cx="497052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6E94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PROTOCOLO E NOTA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447270" y="4524851"/>
            <a:ext cx="4970526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2400" b="1" dirty="0">
                <a:solidFill>
                  <a:srgbClr val="171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Qualidade que vira número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2447270" y="5043011"/>
            <a:ext cx="4654220" cy="1895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757"/>
              </a:lnSpc>
              <a:buNone/>
            </a:pPr>
            <a:r>
              <a:rPr lang="en-US" sz="1950" dirty="0">
                <a:solidFill>
                  <a:srgbClr val="515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Avaliação de 1 a 5 ao fim do atendimento e número de protocolo. A qualidade deixa de ser percepção e passa a ser medida por agência e por atendente.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952500" y="8589645"/>
            <a:ext cx="16383000" cy="9525"/>
          </a:xfrm>
          <a:prstGeom prst="rect">
            <a:avLst/>
          </a:prstGeom>
          <a:solidFill>
            <a:srgbClr val="C8D8D2"/>
          </a:solidFill>
          <a:ln/>
        </p:spPr>
      </p:sp>
      <p:sp>
        <p:nvSpPr>
          <p:cNvPr id="20" name="Text 18"/>
          <p:cNvSpPr/>
          <p:nvPr/>
        </p:nvSpPr>
        <p:spPr>
          <a:xfrm>
            <a:off x="952500" y="8852535"/>
            <a:ext cx="22479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6E94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1272540" y="8844915"/>
            <a:ext cx="16544849" cy="7562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365"/>
              </a:lnSpc>
              <a:buNone/>
            </a:pPr>
            <a:r>
              <a:rPr lang="en-US" sz="1950" b="1" dirty="0">
                <a:solidFill>
                  <a:srgbClr val="171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Pendências que não somem. </a:t>
            </a:r>
            <a:pPr algn="l" indent="0" marL="0">
              <a:lnSpc>
                <a:spcPct val="127365"/>
              </a:lnSpc>
              <a:buNone/>
            </a:pPr>
            <a:r>
              <a:rPr lang="en-US" sz="195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ficou combinado com uma agência vira tarefa com responsável e prazo, em vez de depender de alguém lembrar no meio de 240 grupos.</a:t>
            </a:r>
            <a:endParaRPr lang="en-US" sz="1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23900"/>
            <a:ext cx="390771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5C7D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QUE HOJE NÃO EXISTE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151305" y="723900"/>
            <a:ext cx="126039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9BA5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/ 13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952500" y="1200150"/>
            <a:ext cx="16383000" cy="9525"/>
          </a:xfrm>
          <a:prstGeom prst="rect">
            <a:avLst/>
          </a:prstGeom>
          <a:solidFill>
            <a:srgbClr val="C8D8D2"/>
          </a:solidFill>
          <a:ln/>
        </p:spPr>
      </p:sp>
      <p:sp>
        <p:nvSpPr>
          <p:cNvPr id="5" name="Text 3"/>
          <p:cNvSpPr/>
          <p:nvPr/>
        </p:nvSpPr>
        <p:spPr>
          <a:xfrm>
            <a:off x="952500" y="1419225"/>
            <a:ext cx="7574758" cy="1085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486"/>
              </a:lnSpc>
              <a:buNone/>
            </a:pPr>
            <a:r>
              <a:rPr lang="en-US" sz="3750" b="1" spc="-94" kern="0" dirty="0">
                <a:solidFill>
                  <a:srgbClr val="171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Perguntas que a operação ainda não responde</a:t>
            </a:r>
            <a:endParaRPr lang="en-US" sz="3750" dirty="0"/>
          </a:p>
        </p:txBody>
      </p:sp>
      <p:sp>
        <p:nvSpPr>
          <p:cNvPr id="6" name="Text 4"/>
          <p:cNvSpPr/>
          <p:nvPr/>
        </p:nvSpPr>
        <p:spPr>
          <a:xfrm>
            <a:off x="8878134" y="1594485"/>
            <a:ext cx="8710965" cy="1073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868"/>
              </a:lnSpc>
              <a:buNone/>
            </a:pPr>
            <a:r>
              <a:rPr lang="en-US" sz="1875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resposta abaixo já está dentro das conversas de vocês. O que falta é a camada que as transforma em relatório — e em argumento na hora de pedir mais gente, defender o modelo ou provar o nível de serviço ao parceiro.</a:t>
            </a:r>
            <a:endParaRPr lang="en-US" sz="1875" dirty="0"/>
          </a:p>
        </p:txBody>
      </p:sp>
      <p:sp>
        <p:nvSpPr>
          <p:cNvPr id="7" name="Shape 5"/>
          <p:cNvSpPr/>
          <p:nvPr/>
        </p:nvSpPr>
        <p:spPr>
          <a:xfrm>
            <a:off x="3106579" y="2832378"/>
            <a:ext cx="12074723" cy="6193512"/>
          </a:xfrm>
          <a:prstGeom prst="roundRect">
            <a:avLst>
              <a:gd name="adj" fmla="val 2153"/>
            </a:avLst>
          </a:prstGeom>
          <a:ln w="7620">
            <a:solidFill>
              <a:srgbClr val="C8D8D2"/>
            </a:solidFill>
            <a:prstDash val="solid"/>
          </a:ln>
          <a:effectLst>
            <a:outerShdw sx="100000" sy="100000" kx="0" ky="0" algn="bl" rotWithShape="0" blurRad="114300" dist="19050" dir="5400000">
              <a:srgbClr val="171B1A">
                <a:alpha val="8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59" b="-59"/>
          <a:stretch/>
        </p:blipFill>
        <p:spPr>
          <a:xfrm>
            <a:off x="3106579" y="2832378"/>
            <a:ext cx="12074723" cy="61935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52500" y="9227820"/>
            <a:ext cx="16874490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1800" dirty="0">
                <a:solidFill>
                  <a:srgbClr val="6E7A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Tela real do Masterbot. TMA e TME — tempo médio de atendimento e de espera — são exatamente os números que a OZ não consegue extrair hoje.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38200"/>
            <a:ext cx="372160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5C7D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PLATAFORMA INTEIRA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151305" y="838200"/>
            <a:ext cx="126039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9BA5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13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952500" y="1333500"/>
            <a:ext cx="16383000" cy="9525"/>
          </a:xfrm>
          <a:prstGeom prst="rect">
            <a:avLst/>
          </a:prstGeom>
          <a:solidFill>
            <a:srgbClr val="C8D8D2"/>
          </a:solidFill>
          <a:ln/>
        </p:spPr>
      </p:sp>
      <p:sp>
        <p:nvSpPr>
          <p:cNvPr id="5" name="Text 3"/>
          <p:cNvSpPr/>
          <p:nvPr/>
        </p:nvSpPr>
        <p:spPr>
          <a:xfrm>
            <a:off x="952500" y="1571625"/>
            <a:ext cx="18021300" cy="5935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675"/>
              </a:lnSpc>
              <a:buNone/>
            </a:pPr>
            <a:r>
              <a:rPr lang="en-US" sz="4050" b="1" spc="-101" kern="0" dirty="0">
                <a:solidFill>
                  <a:srgbClr val="171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mais existe, quando vocês quiserem</a:t>
            </a:r>
            <a:endParaRPr lang="en-US" sz="4050" dirty="0"/>
          </a:p>
        </p:txBody>
      </p:sp>
      <p:sp>
        <p:nvSpPr>
          <p:cNvPr id="6" name="Text 4"/>
          <p:cNvSpPr/>
          <p:nvPr/>
        </p:nvSpPr>
        <p:spPr>
          <a:xfrm>
            <a:off x="952500" y="2355652"/>
            <a:ext cx="16482060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528"/>
              </a:lnSpc>
              <a:buNone/>
            </a:pPr>
            <a:r>
              <a:rPr lang="en-US" sz="1875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OZ começa pelo painel de atendimento e pelos relatórios. O resto do produto fica disponível e desligado — inclusive o funil, que não é só de vendas: as mesmas etapas acompanham um chamado de suporte ao parceiro, da abertura até a solução, a habilitação de uma agência nova ou a prospecção de quem ainda não opera com vocês.</a:t>
            </a:r>
            <a:endParaRPr lang="en-US" sz="1875" dirty="0"/>
          </a:p>
        </p:txBody>
      </p:sp>
      <p:sp>
        <p:nvSpPr>
          <p:cNvPr id="7" name="Shape 5"/>
          <p:cNvSpPr/>
          <p:nvPr/>
        </p:nvSpPr>
        <p:spPr>
          <a:xfrm>
            <a:off x="1254204" y="3584377"/>
            <a:ext cx="7397472" cy="3863221"/>
          </a:xfrm>
          <a:prstGeom prst="roundRect">
            <a:avLst>
              <a:gd name="adj" fmla="val 2959"/>
            </a:avLst>
          </a:prstGeom>
          <a:ln w="7620">
            <a:solidFill>
              <a:srgbClr val="C8D8D2"/>
            </a:solidFill>
            <a:prstDash val="solid"/>
          </a:ln>
          <a:effectLst>
            <a:outerShdw sx="100000" sy="100000" kx="0" ky="0" algn="bl" rotWithShape="0" blurRad="114300" dist="19050" dir="5400000">
              <a:srgbClr val="171B1A">
                <a:alpha val="8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94" b="-94"/>
          <a:stretch/>
        </p:blipFill>
        <p:spPr>
          <a:xfrm>
            <a:off x="1254204" y="3584377"/>
            <a:ext cx="7397472" cy="386322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52500" y="7584877"/>
            <a:ext cx="8241030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1800" dirty="0">
                <a:solidFill>
                  <a:srgbClr val="6E7A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Gestão de grupos em massa — a tela que trata os 240 grupos de agências como um conjunto administrável.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9674423" y="3584377"/>
            <a:ext cx="7321153" cy="3863221"/>
          </a:xfrm>
          <a:prstGeom prst="roundRect">
            <a:avLst>
              <a:gd name="adj" fmla="val 2959"/>
            </a:avLst>
          </a:prstGeom>
          <a:ln w="7620">
            <a:solidFill>
              <a:srgbClr val="C8D8D2"/>
            </a:solidFill>
            <a:prstDash val="solid"/>
          </a:ln>
          <a:effectLst>
            <a:outerShdw sx="100000" sy="100000" kx="0" ky="0" algn="bl" rotWithShape="0" blurRad="114300" dist="19050" dir="5400000">
              <a:srgbClr val="171B1A">
                <a:alpha val="8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92" b="-92"/>
          <a:stretch/>
        </p:blipFill>
        <p:spPr>
          <a:xfrm>
            <a:off x="9674423" y="3584377"/>
            <a:ext cx="7321153" cy="386322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334500" y="7584877"/>
            <a:ext cx="8241030" cy="1318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1800" dirty="0">
                <a:solidFill>
                  <a:srgbClr val="6E7A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Funil de oportunidades — uso opcional. As mesmas etapas servem para três coisas: prospectar novas agências, conduzir a habilitação de quem acabou de entrar e acompanhar chamados de suporte ao parceiro até a solução.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76300"/>
            <a:ext cx="279120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5C7D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CAMADA OPCIONAL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151305" y="876300"/>
            <a:ext cx="126039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9BA5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/ 13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952500" y="1390650"/>
            <a:ext cx="16383000" cy="9525"/>
          </a:xfrm>
          <a:prstGeom prst="rect">
            <a:avLst/>
          </a:prstGeom>
          <a:solidFill>
            <a:srgbClr val="C8D8D2"/>
          </a:solidFill>
          <a:ln/>
        </p:spPr>
      </p:sp>
      <p:sp>
        <p:nvSpPr>
          <p:cNvPr id="5" name="Text 3"/>
          <p:cNvSpPr/>
          <p:nvPr/>
        </p:nvSpPr>
        <p:spPr>
          <a:xfrm>
            <a:off x="952500" y="1704975"/>
            <a:ext cx="18021300" cy="675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045"/>
              </a:lnSpc>
              <a:buNone/>
            </a:pPr>
            <a:r>
              <a:rPr lang="en-US" sz="4650" b="1" spc="-116" kern="0" dirty="0">
                <a:solidFill>
                  <a:srgbClr val="171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Assistente para a supervisão</a:t>
            </a:r>
            <a:endParaRPr lang="en-US" sz="4650" dirty="0"/>
          </a:p>
        </p:txBody>
      </p:sp>
      <p:sp>
        <p:nvSpPr>
          <p:cNvPr id="6" name="Text 4"/>
          <p:cNvSpPr/>
          <p:nvPr/>
        </p:nvSpPr>
        <p:spPr>
          <a:xfrm>
            <a:off x="952500" y="2647474"/>
            <a:ext cx="15893415" cy="1156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481"/>
              </a:lnSpc>
              <a:buNone/>
            </a:pPr>
            <a:r>
              <a:rPr lang="en-US" sz="2025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Ela não entra nos grupos e não responde ninguém. Lê o que já aconteceu e avisa a coordenação quando algo foge do padrão — o papel de uma auxiliar que acompanha tudo e chega com o resumo pronto. A plataforma entrega valor sem ela; pode ser ligada depois, quando fizer sentido.</a:t>
            </a:r>
            <a:endParaRPr lang="en-US" sz="2025" dirty="0"/>
          </a:p>
        </p:txBody>
      </p:sp>
      <p:sp>
        <p:nvSpPr>
          <p:cNvPr id="7" name="Shape 5"/>
          <p:cNvSpPr/>
          <p:nvPr/>
        </p:nvSpPr>
        <p:spPr>
          <a:xfrm>
            <a:off x="952500" y="4070985"/>
            <a:ext cx="5257800" cy="4545330"/>
          </a:xfrm>
          <a:prstGeom prst="roundRect">
            <a:avLst>
              <a:gd name="adj" fmla="val 4191"/>
            </a:avLst>
          </a:prstGeom>
          <a:solidFill>
            <a:srgbClr val="FFFFFF"/>
          </a:solidFill>
          <a:ln w="7620">
            <a:solidFill>
              <a:srgbClr val="E0E5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22070" y="4440555"/>
            <a:ext cx="497052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6E94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ALERTA DE SILÊNCIO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22070" y="4954905"/>
            <a:ext cx="4654220" cy="1195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733"/>
              </a:lnSpc>
              <a:buNone/>
            </a:pPr>
            <a:r>
              <a:rPr lang="en-US" sz="2250" dirty="0">
                <a:solidFill>
                  <a:srgbClr val="171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 agência Vertex fez uma pergunta há 40 minutos e ninguém respondeu.”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6515100" y="4070985"/>
            <a:ext cx="5257800" cy="4545330"/>
          </a:xfrm>
          <a:prstGeom prst="roundRect">
            <a:avLst>
              <a:gd name="adj" fmla="val 4191"/>
            </a:avLst>
          </a:prstGeom>
          <a:solidFill>
            <a:srgbClr val="FFFFFF"/>
          </a:solidFill>
          <a:ln w="7620">
            <a:solidFill>
              <a:srgbClr val="E0E5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84670" y="4440555"/>
            <a:ext cx="497052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6E94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RESUMO DO DIA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884670" y="4954905"/>
            <a:ext cx="4654220" cy="1195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733"/>
              </a:lnSpc>
              <a:buNone/>
            </a:pPr>
            <a:r>
              <a:rPr lang="en-US" sz="2250" dirty="0">
                <a:solidFill>
                  <a:srgbClr val="171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entrou, o que ficou aberto e quais assuntos mais apareceram nos grupos.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12077700" y="4070985"/>
            <a:ext cx="5257800" cy="4545330"/>
          </a:xfrm>
          <a:prstGeom prst="roundRect">
            <a:avLst>
              <a:gd name="adj" fmla="val 4191"/>
            </a:avLst>
          </a:prstGeom>
          <a:solidFill>
            <a:srgbClr val="FFFFFF"/>
          </a:solidFill>
          <a:ln w="7620">
            <a:solidFill>
              <a:srgbClr val="E0E5E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447270" y="4440555"/>
            <a:ext cx="497052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6E94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DESVIO DE PADRÃO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447270" y="4954905"/>
            <a:ext cx="4654220" cy="1195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733"/>
              </a:lnSpc>
              <a:buNone/>
            </a:pPr>
            <a:r>
              <a:rPr lang="en-US" sz="2250" dirty="0">
                <a:solidFill>
                  <a:srgbClr val="171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Parceiro ativo que sumiu, reclamação recorrente, volume fora da curva.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952500" y="8921115"/>
            <a:ext cx="16383000" cy="9525"/>
          </a:xfrm>
          <a:prstGeom prst="rect">
            <a:avLst/>
          </a:prstGeom>
          <a:solidFill>
            <a:srgbClr val="C8D8D2"/>
          </a:solidFill>
          <a:ln/>
        </p:spPr>
      </p:sp>
      <p:sp>
        <p:nvSpPr>
          <p:cNvPr id="17" name="Text 15"/>
          <p:cNvSpPr/>
          <p:nvPr/>
        </p:nvSpPr>
        <p:spPr>
          <a:xfrm>
            <a:off x="952500" y="9206865"/>
            <a:ext cx="22479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6E94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272540" y="9176385"/>
            <a:ext cx="8480095" cy="4248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2100" b="1" dirty="0">
                <a:solidFill>
                  <a:srgbClr val="171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fala com o parceiro continua sendo a sua equipe. Sempre.</a:t>
            </a:r>
            <a:endParaRPr lang="en-US" sz="2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71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FFFF">
                  <a:alpha val="4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876300"/>
            <a:ext cx="297731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A8BF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COMO ENTRA NA OZ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151305" y="876300"/>
            <a:ext cx="126039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6E7A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/ 13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52500" y="1390650"/>
            <a:ext cx="16383000" cy="9525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952500" y="1781175"/>
            <a:ext cx="18021300" cy="675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045"/>
              </a:lnSpc>
              <a:buNone/>
            </a:pPr>
            <a:r>
              <a:rPr lang="en-US" sz="4650" b="1" spc="-116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Quatro etapas, começando pequeno</a:t>
            </a:r>
            <a:endParaRPr lang="en-US" sz="4650" dirty="0"/>
          </a:p>
        </p:txBody>
      </p:sp>
      <p:sp>
        <p:nvSpPr>
          <p:cNvPr id="7" name="Shape 5"/>
          <p:cNvSpPr/>
          <p:nvPr/>
        </p:nvSpPr>
        <p:spPr>
          <a:xfrm>
            <a:off x="952500" y="4352687"/>
            <a:ext cx="3781425" cy="9525"/>
          </a:xfrm>
          <a:prstGeom prst="rect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52500" y="4293632"/>
            <a:ext cx="133350" cy="133350"/>
          </a:xfrm>
          <a:prstGeom prst="ellipse">
            <a:avLst/>
          </a:prstGeom>
          <a:solidFill>
            <a:srgbClr val="A8BFB8"/>
          </a:solidFill>
          <a:ln/>
        </p:spPr>
      </p:sp>
      <p:sp>
        <p:nvSpPr>
          <p:cNvPr id="9" name="Text 7"/>
          <p:cNvSpPr/>
          <p:nvPr/>
        </p:nvSpPr>
        <p:spPr>
          <a:xfrm>
            <a:off x="952500" y="4598432"/>
            <a:ext cx="4159568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156"/>
              </a:lnSpc>
              <a:buNone/>
            </a:pPr>
            <a:r>
              <a:rPr lang="en-US" sz="5700" b="1" spc="-228" kern="0" dirty="0">
                <a:solidFill>
                  <a:srgbClr val="8EAC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5700" dirty="0"/>
          </a:p>
        </p:txBody>
      </p:sp>
      <p:sp>
        <p:nvSpPr>
          <p:cNvPr id="10" name="Text 8"/>
          <p:cNvSpPr/>
          <p:nvPr/>
        </p:nvSpPr>
        <p:spPr>
          <a:xfrm>
            <a:off x="952500" y="5493782"/>
            <a:ext cx="4159568" cy="4543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318"/>
              </a:lnSpc>
              <a:buNone/>
            </a:pPr>
            <a:r>
              <a:rPr lang="en-US" sz="2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Integração</a:t>
            </a:r>
            <a:endParaRPr lang="en-US" sz="2850" dirty="0"/>
          </a:p>
        </p:txBody>
      </p:sp>
      <p:sp>
        <p:nvSpPr>
          <p:cNvPr id="11" name="Text 9"/>
          <p:cNvSpPr/>
          <p:nvPr/>
        </p:nvSpPr>
        <p:spPr>
          <a:xfrm>
            <a:off x="952500" y="6081475"/>
            <a:ext cx="3894868" cy="158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808"/>
              </a:lnSpc>
              <a:buNone/>
            </a:pPr>
            <a:r>
              <a:rPr lang="en-US" sz="2025" dirty="0">
                <a:solidFill>
                  <a:srgbClr val="C8D8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Conectamos a plataforma ao WhatsApp que a OZ já usa. Nenhuma agência precisa fazer nada diferente.</a:t>
            </a:r>
            <a:endParaRPr lang="en-US" sz="2025" dirty="0"/>
          </a:p>
        </p:txBody>
      </p:sp>
      <p:sp>
        <p:nvSpPr>
          <p:cNvPr id="12" name="Shape 10"/>
          <p:cNvSpPr/>
          <p:nvPr/>
        </p:nvSpPr>
        <p:spPr>
          <a:xfrm>
            <a:off x="5153025" y="4352687"/>
            <a:ext cx="3781425" cy="9525"/>
          </a:xfrm>
          <a:prstGeom prst="rect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5153025" y="4293632"/>
            <a:ext cx="133350" cy="133350"/>
          </a:xfrm>
          <a:prstGeom prst="ellipse">
            <a:avLst/>
          </a:prstGeom>
          <a:solidFill>
            <a:srgbClr val="A8BFB8"/>
          </a:solidFill>
          <a:ln/>
        </p:spPr>
      </p:sp>
      <p:sp>
        <p:nvSpPr>
          <p:cNvPr id="14" name="Text 12"/>
          <p:cNvSpPr/>
          <p:nvPr/>
        </p:nvSpPr>
        <p:spPr>
          <a:xfrm>
            <a:off x="5153025" y="4598432"/>
            <a:ext cx="4159568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156"/>
              </a:lnSpc>
              <a:buNone/>
            </a:pPr>
            <a:r>
              <a:rPr lang="en-US" sz="5700" b="1" spc="-228" kern="0" dirty="0">
                <a:solidFill>
                  <a:srgbClr val="8EAC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5700" dirty="0"/>
          </a:p>
        </p:txBody>
      </p:sp>
      <p:sp>
        <p:nvSpPr>
          <p:cNvPr id="15" name="Text 13"/>
          <p:cNvSpPr/>
          <p:nvPr/>
        </p:nvSpPr>
        <p:spPr>
          <a:xfrm>
            <a:off x="5153025" y="5493782"/>
            <a:ext cx="4159568" cy="4543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318"/>
              </a:lnSpc>
              <a:buNone/>
            </a:pPr>
            <a:r>
              <a:rPr lang="en-US" sz="2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Configuração</a:t>
            </a:r>
            <a:endParaRPr lang="en-US" sz="2850" dirty="0"/>
          </a:p>
        </p:txBody>
      </p:sp>
      <p:sp>
        <p:nvSpPr>
          <p:cNvPr id="16" name="Text 14"/>
          <p:cNvSpPr/>
          <p:nvPr/>
        </p:nvSpPr>
        <p:spPr>
          <a:xfrm>
            <a:off x="5153025" y="6081475"/>
            <a:ext cx="3894868" cy="1966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808"/>
              </a:lnSpc>
              <a:buNone/>
            </a:pPr>
            <a:r>
              <a:rPr lang="en-US" sz="2025" dirty="0">
                <a:solidFill>
                  <a:srgbClr val="C8D8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Desenhamos a operação de vocês: filas por Mesa, Cadastro e Operação, carteiras por atendente e regras de distribuição.</a:t>
            </a:r>
            <a:endParaRPr lang="en-US" sz="2025" dirty="0"/>
          </a:p>
        </p:txBody>
      </p:sp>
      <p:sp>
        <p:nvSpPr>
          <p:cNvPr id="17" name="Shape 15"/>
          <p:cNvSpPr/>
          <p:nvPr/>
        </p:nvSpPr>
        <p:spPr>
          <a:xfrm>
            <a:off x="9353550" y="4352687"/>
            <a:ext cx="3781425" cy="9525"/>
          </a:xfrm>
          <a:prstGeom prst="rect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9353550" y="4293632"/>
            <a:ext cx="133350" cy="133350"/>
          </a:xfrm>
          <a:prstGeom prst="ellipse">
            <a:avLst/>
          </a:prstGeom>
          <a:solidFill>
            <a:srgbClr val="A8BFB8"/>
          </a:solidFill>
          <a:ln/>
        </p:spPr>
      </p:sp>
      <p:sp>
        <p:nvSpPr>
          <p:cNvPr id="19" name="Text 17"/>
          <p:cNvSpPr/>
          <p:nvPr/>
        </p:nvSpPr>
        <p:spPr>
          <a:xfrm>
            <a:off x="9353550" y="4598432"/>
            <a:ext cx="4159568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156"/>
              </a:lnSpc>
              <a:buNone/>
            </a:pPr>
            <a:r>
              <a:rPr lang="en-US" sz="5700" b="1" spc="-228" kern="0" dirty="0">
                <a:solidFill>
                  <a:srgbClr val="8EAC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5700" dirty="0"/>
          </a:p>
        </p:txBody>
      </p:sp>
      <p:sp>
        <p:nvSpPr>
          <p:cNvPr id="20" name="Text 18"/>
          <p:cNvSpPr/>
          <p:nvPr/>
        </p:nvSpPr>
        <p:spPr>
          <a:xfrm>
            <a:off x="9353550" y="5493782"/>
            <a:ext cx="4159568" cy="4543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318"/>
              </a:lnSpc>
              <a:buNone/>
            </a:pPr>
            <a:r>
              <a:rPr lang="en-US" sz="2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Piloto</a:t>
            </a:r>
            <a:endParaRPr lang="en-US" sz="2850" dirty="0"/>
          </a:p>
        </p:txBody>
      </p:sp>
      <p:sp>
        <p:nvSpPr>
          <p:cNvPr id="21" name="Text 19"/>
          <p:cNvSpPr/>
          <p:nvPr/>
        </p:nvSpPr>
        <p:spPr>
          <a:xfrm>
            <a:off x="9353550" y="6081475"/>
            <a:ext cx="3894868" cy="158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808"/>
              </a:lnSpc>
              <a:buNone/>
            </a:pPr>
            <a:r>
              <a:rPr lang="en-US" sz="2025" dirty="0">
                <a:solidFill>
                  <a:srgbClr val="C8D8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recorte de grupos entra primeiro, com a equipe operando de verdade, antes de qualquer decisão maior.</a:t>
            </a:r>
            <a:endParaRPr lang="en-US" sz="2025" dirty="0"/>
          </a:p>
        </p:txBody>
      </p:sp>
      <p:sp>
        <p:nvSpPr>
          <p:cNvPr id="22" name="Shape 20"/>
          <p:cNvSpPr/>
          <p:nvPr/>
        </p:nvSpPr>
        <p:spPr>
          <a:xfrm>
            <a:off x="13554075" y="4352687"/>
            <a:ext cx="3781425" cy="9525"/>
          </a:xfrm>
          <a:prstGeom prst="rect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3554075" y="4293632"/>
            <a:ext cx="133350" cy="133350"/>
          </a:xfrm>
          <a:prstGeom prst="ellipse">
            <a:avLst/>
          </a:prstGeom>
          <a:solidFill>
            <a:srgbClr val="5EAD49"/>
          </a:solidFill>
          <a:ln/>
        </p:spPr>
      </p:sp>
      <p:sp>
        <p:nvSpPr>
          <p:cNvPr id="24" name="Text 22"/>
          <p:cNvSpPr/>
          <p:nvPr/>
        </p:nvSpPr>
        <p:spPr>
          <a:xfrm>
            <a:off x="13554075" y="4598432"/>
            <a:ext cx="4159568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156"/>
              </a:lnSpc>
              <a:buNone/>
            </a:pPr>
            <a:r>
              <a:rPr lang="en-US" sz="5700" b="1" spc="-228" kern="0" dirty="0">
                <a:solidFill>
                  <a:srgbClr val="8FC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5700" dirty="0"/>
          </a:p>
        </p:txBody>
      </p:sp>
      <p:sp>
        <p:nvSpPr>
          <p:cNvPr id="25" name="Text 23"/>
          <p:cNvSpPr/>
          <p:nvPr/>
        </p:nvSpPr>
        <p:spPr>
          <a:xfrm>
            <a:off x="13554075" y="5493782"/>
            <a:ext cx="4159568" cy="4543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318"/>
              </a:lnSpc>
              <a:buNone/>
            </a:pPr>
            <a:r>
              <a:rPr lang="en-US" sz="2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Evolução</a:t>
            </a:r>
            <a:endParaRPr lang="en-US" sz="2850" dirty="0"/>
          </a:p>
        </p:txBody>
      </p:sp>
      <p:sp>
        <p:nvSpPr>
          <p:cNvPr id="26" name="Text 24"/>
          <p:cNvSpPr/>
          <p:nvPr/>
        </p:nvSpPr>
        <p:spPr>
          <a:xfrm>
            <a:off x="13554075" y="6081475"/>
            <a:ext cx="3894868" cy="158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808"/>
              </a:lnSpc>
              <a:buNone/>
            </a:pPr>
            <a:r>
              <a:rPr lang="en-US" sz="2025" dirty="0">
                <a:solidFill>
                  <a:srgbClr val="C8D8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os primeiros relatórios na mão, vocês decidem o que ligar em seguida — e o que deixar desligado.</a:t>
            </a:r>
            <a:endParaRPr lang="en-US" sz="20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76300"/>
            <a:ext cx="241912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5C7D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PRÓXIMO PASSO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151305" y="876300"/>
            <a:ext cx="126039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9BA5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/ 13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952500" y="1390650"/>
            <a:ext cx="16383000" cy="9525"/>
          </a:xfrm>
          <a:prstGeom prst="rect">
            <a:avLst/>
          </a:prstGeom>
          <a:solidFill>
            <a:srgbClr val="C8D8D2"/>
          </a:solidFill>
          <a:ln/>
        </p:spPr>
      </p:sp>
      <p:sp>
        <p:nvSpPr>
          <p:cNvPr id="5" name="Text 3"/>
          <p:cNvSpPr/>
          <p:nvPr/>
        </p:nvSpPr>
        <p:spPr>
          <a:xfrm>
            <a:off x="952500" y="1743075"/>
            <a:ext cx="18021300" cy="7169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789"/>
              </a:lnSpc>
              <a:buNone/>
            </a:pPr>
            <a:r>
              <a:rPr lang="en-US" sz="4950" b="1" spc="-124" kern="0" dirty="0">
                <a:solidFill>
                  <a:srgbClr val="171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minutos com a operação de vocês na tela</a:t>
            </a:r>
            <a:endParaRPr lang="en-US" sz="4950" dirty="0"/>
          </a:p>
        </p:txBody>
      </p:sp>
      <p:sp>
        <p:nvSpPr>
          <p:cNvPr id="6" name="Text 4"/>
          <p:cNvSpPr/>
          <p:nvPr/>
        </p:nvSpPr>
        <p:spPr>
          <a:xfrm>
            <a:off x="952500" y="2764869"/>
            <a:ext cx="15304770" cy="8115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210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demonstração conduzida sobre o cenário real da OZ — os grupos de parceiros, a divisão por área e a rotina de fechamento — para vocês avaliarem com dados de verdade, não com exemplo genérico.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952500" y="3881199"/>
            <a:ext cx="5232321" cy="1962150"/>
          </a:xfrm>
          <a:prstGeom prst="roundRect">
            <a:avLst>
              <a:gd name="adj" fmla="val 9709"/>
            </a:avLst>
          </a:prstGeom>
          <a:solidFill>
            <a:srgbClr val="FFFFFF"/>
          </a:solidFill>
          <a:ln w="7620">
            <a:solidFill>
              <a:srgbClr val="E0E5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22070" y="4250769"/>
            <a:ext cx="494249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6E94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ETAPA 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22070" y="4727019"/>
            <a:ext cx="4627976" cy="784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2100" dirty="0">
                <a:solidFill>
                  <a:srgbClr val="171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Demonstração para a supervisão comercial, sem compromisso.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6527721" y="3881199"/>
            <a:ext cx="5232440" cy="1962150"/>
          </a:xfrm>
          <a:prstGeom prst="roundRect">
            <a:avLst>
              <a:gd name="adj" fmla="val 9709"/>
            </a:avLst>
          </a:prstGeom>
          <a:solidFill>
            <a:srgbClr val="FFFFFF"/>
          </a:solidFill>
          <a:ln w="7620">
            <a:solidFill>
              <a:srgbClr val="E0E5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97291" y="4250769"/>
            <a:ext cx="494263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6E94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ETAPA 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897291" y="4727019"/>
            <a:ext cx="4628099" cy="784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2100" dirty="0">
                <a:solidFill>
                  <a:srgbClr val="171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Desenho da operação da OZ na plataforma: áreas, filas e regras.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12103060" y="3881199"/>
            <a:ext cx="5232440" cy="1962150"/>
          </a:xfrm>
          <a:prstGeom prst="roundRect">
            <a:avLst>
              <a:gd name="adj" fmla="val 9709"/>
            </a:avLst>
          </a:prstGeom>
          <a:solidFill>
            <a:srgbClr val="FFFFFF"/>
          </a:solidFill>
          <a:ln w="7620">
            <a:solidFill>
              <a:srgbClr val="E0E5E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472631" y="4250769"/>
            <a:ext cx="494263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6E94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ETAPA 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472631" y="4727019"/>
            <a:ext cx="4628099" cy="784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2100" dirty="0">
                <a:solidFill>
                  <a:srgbClr val="171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Piloto com um recorte de grupos antes de qualquer decisão maior.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952500" y="7833360"/>
            <a:ext cx="16383000" cy="1729740"/>
          </a:xfrm>
          <a:prstGeom prst="roundRect">
            <a:avLst>
              <a:gd name="adj" fmla="val 11013"/>
            </a:avLst>
          </a:prstGeom>
          <a:solidFill>
            <a:srgbClr val="171B1A"/>
          </a:solidFill>
          <a:ln/>
        </p:spPr>
      </p:sp>
      <p:sp>
        <p:nvSpPr>
          <p:cNvPr id="17" name="Text 15"/>
          <p:cNvSpPr/>
          <p:nvPr/>
        </p:nvSpPr>
        <p:spPr>
          <a:xfrm>
            <a:off x="1371600" y="8157210"/>
            <a:ext cx="429747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Marcelo Mafra · MasterVendas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1371600" y="8542020"/>
            <a:ext cx="4297478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A8B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mafra@mastervendas.com.br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371600" y="8919210"/>
            <a:ext cx="4297478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A8B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 (43) 99120-0652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9235440" y="8545830"/>
            <a:ext cx="756894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8EAC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MASTERBOT · GESTÃO DE ATENDIMENTO EM ESCALA</a:t>
            </a:r>
            <a:endParaRPr lang="en-US" sz="180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06800" y="8393430"/>
            <a:ext cx="609600" cy="60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2026-08-21T20:37:35Z</dcterms:created>
  <dcterms:modified xsi:type="dcterms:W3CDTF">2026-08-21T20:37:35Z</dcterms:modified>
</cp:coreProperties>
</file>